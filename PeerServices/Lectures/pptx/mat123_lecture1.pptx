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  <p:sldId id="277" r:id="rId23"/>
    <p:sldId id="278" r:id="rId24"/>
    <p:sldId id="283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533B7-5987-5117-31A9-D716B96405DC}" v="86" dt="2025-10-23T10:55:34.696"/>
    <p1510:client id="{2B586D69-846B-D0F5-73FB-A0B2C807E13E}" v="39" dt="2025-10-23T21:39:27.781"/>
    <p1510:client id="{2D9CF388-6B49-1A7F-76B8-C7E7A6917B12}" v="310" dt="2025-10-23T14:53:20.172"/>
    <p1510:client id="{4008D669-D91C-DD01-75D9-EE1D78B5FB59}" v="4" dt="2025-10-23T16:52:46.641"/>
    <p1510:client id="{4D3C6F20-270F-9599-A887-72CF3F7C619A}" v="3" dt="2025-10-24T10:20:46.759"/>
    <p1510:client id="{E4D48BA9-0057-D4F0-F53E-5A67E764717D}" v="284" dt="2025-10-22T21:03:33.095"/>
    <p1510:client id="{F7CD2383-9854-C13E-135B-CE9F591E7081}" v="372" dt="2025-10-23T00:22:07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1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MAT123 (</a:t>
            </a:r>
            <a:r>
              <a:rPr lang="tr-TR" err="1"/>
              <a:t>Mathematics</a:t>
            </a:r>
            <a:r>
              <a:rPr lang="tr-TR"/>
              <a:t> I)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err="1"/>
              <a:t>Lecture</a:t>
            </a:r>
            <a:r>
              <a:rPr lang="tr-TR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776A05-8F4E-BA3C-EF98-11FCEF2B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Presentation</a:t>
            </a:r>
          </a:p>
        </p:txBody>
      </p:sp>
      <p:pic>
        <p:nvPicPr>
          <p:cNvPr id="3" name="Resim 2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CC7FC77-4FA4-FE01-2509-651136DC9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21" y="1908402"/>
            <a:ext cx="36957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5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04258E-0648-D3EF-2350-D12E51C6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About</a:t>
            </a:r>
            <a:r>
              <a:rPr lang="tr-TR"/>
              <a:t> Me</a:t>
            </a:r>
          </a:p>
        </p:txBody>
      </p:sp>
      <p:pic>
        <p:nvPicPr>
          <p:cNvPr id="6" name="Resim 5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221823A-C08B-EBD4-28B5-CBF2198B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4" y="2003653"/>
            <a:ext cx="52482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8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F26665-CAB7-829C-4BE6-4FF97225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About</a:t>
            </a:r>
            <a:r>
              <a:rPr lang="tr-TR"/>
              <a:t> </a:t>
            </a:r>
            <a:r>
              <a:rPr lang="tr-TR" err="1"/>
              <a:t>Programme</a:t>
            </a:r>
          </a:p>
        </p:txBody>
      </p:sp>
      <p:pic>
        <p:nvPicPr>
          <p:cNvPr id="6" name="Resim 5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0FEFAAA-7B92-059C-14CA-31B4537E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4" y="1999570"/>
            <a:ext cx="79914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2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72D9AE-C182-3DDE-AC28-6E8AEB50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Why</a:t>
            </a:r>
            <a:r>
              <a:rPr lang="tr-TR"/>
              <a:t> </a:t>
            </a:r>
            <a:r>
              <a:rPr lang="tr-TR" err="1"/>
              <a:t>Support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Students</a:t>
            </a:r>
            <a:r>
              <a:rPr lang="tr-TR"/>
              <a:t>?</a:t>
            </a:r>
          </a:p>
        </p:txBody>
      </p:sp>
      <p:pic>
        <p:nvPicPr>
          <p:cNvPr id="6" name="Resim 5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B03ADB-6914-B6F5-41E4-8BBB39795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73" y="1984602"/>
            <a:ext cx="99536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3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734DD7-7B55-9EA0-182E-63D3859C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Presentation</a:t>
            </a:r>
          </a:p>
        </p:txBody>
      </p:sp>
      <p:pic>
        <p:nvPicPr>
          <p:cNvPr id="3" name="Resim 2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4FBA128-239C-5FDC-62F2-A328C3E4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1863912"/>
            <a:ext cx="11353800" cy="13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3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577132-3F7C-5A95-8476-B3236203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Polynomial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C06DD63-9626-74A5-A00A-8AE01A44D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76" y="1819921"/>
            <a:ext cx="8001000" cy="295275"/>
          </a:xfrm>
          <a:prstGeom prst="rect">
            <a:avLst/>
          </a:prstGeom>
        </p:spPr>
      </p:pic>
      <p:pic>
        <p:nvPicPr>
          <p:cNvPr id="11" name="Resim 10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19BFD9C-5026-95DF-66E9-2B64AB3F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75" y="2450947"/>
            <a:ext cx="6943725" cy="981075"/>
          </a:xfrm>
          <a:prstGeom prst="rect">
            <a:avLst/>
          </a:prstGeom>
        </p:spPr>
      </p:pic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7D23FF-7A9C-3AC9-7F7F-2E85CDA7D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65" y="3791672"/>
            <a:ext cx="73247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2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94FD7A-7EBE-C54E-6914-390A18CA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Rational</a:t>
            </a:r>
            <a:r>
              <a:rPr lang="tr-TR"/>
              <a:t> </a:t>
            </a:r>
            <a:r>
              <a:rPr lang="tr-TR" err="1"/>
              <a:t>Root</a:t>
            </a:r>
            <a:r>
              <a:rPr lang="tr-TR"/>
              <a:t> </a:t>
            </a:r>
            <a:r>
              <a:rPr lang="tr-TR" err="1"/>
              <a:t>Theorem</a:t>
            </a:r>
          </a:p>
        </p:txBody>
      </p:sp>
      <p:pic>
        <p:nvPicPr>
          <p:cNvPr id="5" name="Resim 4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DE67073-EC1B-2018-AE14-D93B80C8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93" y="1839005"/>
            <a:ext cx="97917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2F01A1-674E-6906-07B1-BEA2FF5F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Rational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1F44085-D7C7-0F4D-8C76-A32E15FC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9" y="1710418"/>
            <a:ext cx="10039350" cy="628650"/>
          </a:xfrm>
          <a:prstGeom prst="rect">
            <a:avLst/>
          </a:prstGeom>
        </p:spPr>
      </p:pic>
      <p:pic>
        <p:nvPicPr>
          <p:cNvPr id="5" name="Resim 4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89F3417-0015-C007-6339-7483175E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61" y="2544536"/>
            <a:ext cx="1847850" cy="571500"/>
          </a:xfrm>
          <a:prstGeom prst="rect">
            <a:avLst/>
          </a:prstGeom>
        </p:spPr>
      </p:pic>
      <p:pic>
        <p:nvPicPr>
          <p:cNvPr id="7" name="Resim 6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903AD34-D4DC-DF9E-17ED-B47A32895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3424918"/>
            <a:ext cx="24288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3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FE260F-0D06-9B95-B3FD-CEDE875E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Trigonometric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CD72064-B3C9-3076-EB75-458C1B7A0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8" y="1874384"/>
            <a:ext cx="7781925" cy="2571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4ED07CE-5088-BF0A-85DA-94061C0C3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42" y="2353356"/>
            <a:ext cx="6353175" cy="2571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79115C5-FD33-80F9-E57E-B42468D02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8" y="2973842"/>
            <a:ext cx="3362325" cy="257175"/>
          </a:xfrm>
          <a:prstGeom prst="rect">
            <a:avLst/>
          </a:prstGeom>
        </p:spPr>
      </p:pic>
      <p:pic>
        <p:nvPicPr>
          <p:cNvPr id="8" name="Resim 7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0FA8D81-C566-FC30-7CF8-5BB5572E1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39" y="3427639"/>
            <a:ext cx="66865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8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A19B95-E237-8D10-DE6C-9F81C8AE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Inverse</a:t>
            </a:r>
            <a:r>
              <a:rPr lang="tr-TR"/>
              <a:t> </a:t>
            </a:r>
            <a:r>
              <a:rPr lang="tr-TR" err="1"/>
              <a:t>Trigonometric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3AB5115-3CAF-A433-953B-A07BB0B1D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97" y="1712728"/>
            <a:ext cx="7820025" cy="22098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279D26AD-09D4-E62A-3918-52D10B3A3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76" y="4515848"/>
            <a:ext cx="265747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3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16869E-0884-E9C2-DC8F-285A72B7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Exponential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730E40E-AFEE-2B3C-9772-B5EA0F0F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23" y="1713200"/>
            <a:ext cx="4533900" cy="9810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704D9CB-901F-1FC0-E2BC-7F1AEB2B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57" y="3300413"/>
            <a:ext cx="6324600" cy="2571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A5EBCA3-31D3-6256-E4F9-9BA007AEA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17" y="3953556"/>
            <a:ext cx="45434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8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782FA5-64B7-DD76-32AD-41ED66A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Logarithmic</a:t>
            </a:r>
            <a:r>
              <a:rPr lang="tr-TR"/>
              <a:t> </a:t>
            </a:r>
            <a:r>
              <a:rPr lang="tr-TR" err="1"/>
              <a:t>Functions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9C84F69-F351-5BB2-0124-B7E61D0A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78" y="1744179"/>
            <a:ext cx="5838825" cy="981075"/>
          </a:xfrm>
          <a:prstGeom prst="rect">
            <a:avLst/>
          </a:prstGeom>
        </p:spPr>
      </p:pic>
      <p:pic>
        <p:nvPicPr>
          <p:cNvPr id="5" name="Resim 4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12B330-64D0-F97E-2133-C5CE2729B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28" y="3331152"/>
            <a:ext cx="34385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5DD80A-4DB3-8BA6-0294-903344D7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Summary</a:t>
            </a:r>
            <a:r>
              <a:rPr lang="tr-TR"/>
              <a:t> of </a:t>
            </a:r>
            <a:r>
              <a:rPr lang="tr-TR" err="1"/>
              <a:t>Functions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70BB0D0-1D97-6BFC-1E34-B1A27CA1E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18" y="1811791"/>
            <a:ext cx="81724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60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251F39-A5B7-9E24-C1EF-3D1E7135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Limit</a:t>
            </a:r>
          </a:p>
        </p:txBody>
      </p:sp>
      <p:pic>
        <p:nvPicPr>
          <p:cNvPr id="6" name="Resim 5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53C1EE8-89CD-EDC2-7DD4-1C56E750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70" y="1906883"/>
            <a:ext cx="9372600" cy="13430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81B06C6-4BCD-2B94-AC2A-79EE53204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387" y="3761267"/>
            <a:ext cx="14192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2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2C5A9C-D6E3-2B69-24A5-2582E084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Limit Rules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B270339-B630-7D92-FCB9-118F5C9C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1518228"/>
            <a:ext cx="7981950" cy="381000"/>
          </a:xfrm>
          <a:prstGeom prst="rect">
            <a:avLst/>
          </a:prstGeom>
        </p:spPr>
      </p:pic>
      <p:pic>
        <p:nvPicPr>
          <p:cNvPr id="5" name="Resim 4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347BFCB-7466-E85D-08F2-A61FC908C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47" y="2073563"/>
            <a:ext cx="7172325" cy="36576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AFBF72A5-2EFE-4353-A311-AB4A10FA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98" y="5955868"/>
            <a:ext cx="76009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7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0DE155-6470-4284-569C-2302EC0D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Squeeze</a:t>
            </a:r>
            <a:r>
              <a:rPr lang="tr-TR"/>
              <a:t> (</a:t>
            </a:r>
            <a:r>
              <a:rPr lang="tr-TR" err="1"/>
              <a:t>Sandwich</a:t>
            </a:r>
            <a:r>
              <a:rPr lang="tr-TR"/>
              <a:t>) </a:t>
            </a:r>
            <a:r>
              <a:rPr lang="tr-TR" err="1"/>
              <a:t>Theorem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46E5402-3367-81DB-F7F8-7FDDD0FA5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8" y="1900460"/>
            <a:ext cx="8534400" cy="2571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FD24DC2-9943-7313-E711-6E4D7222C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80" y="2343483"/>
            <a:ext cx="5353050" cy="2571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31E254B6-28A3-9D5E-6D6E-177A664DD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065" y="2875221"/>
            <a:ext cx="2724150" cy="3810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5DB779E-2E03-36C3-91A8-812AF9107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" y="3433430"/>
            <a:ext cx="21240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3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23D4E9-3C37-19D1-1F3F-2FD9785A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Two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Limits</a:t>
            </a:r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042A682-C805-BB7A-96C2-1611F2FAA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5" y="1830548"/>
            <a:ext cx="10687050" cy="1190625"/>
          </a:xfrm>
          <a:prstGeom prst="rect">
            <a:avLst/>
          </a:prstGeom>
        </p:spPr>
      </p:pic>
      <p:pic>
        <p:nvPicPr>
          <p:cNvPr id="3" name="Resim 2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8597DD2-B770-2711-AF55-33D6374FC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55" y="3760049"/>
            <a:ext cx="69818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41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F43283-5C8E-0CD7-923D-E7C4B073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/>
              <a:t>The</a:t>
            </a:r>
            <a:r>
              <a:rPr lang="tr-TR"/>
              <a:t> Delta-Epsilon Definition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161F0A7-1D3A-B9AF-EB7D-B849F0491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9" y="1710317"/>
            <a:ext cx="11456582" cy="212157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C0B5AF8-62D4-9023-5B4E-C2D88AA00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288" y="2095500"/>
            <a:ext cx="1495425" cy="3810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A1772676-F02F-8E22-1B8D-6920D9A01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41" y="2582715"/>
            <a:ext cx="8801100" cy="2571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D2D6F27-599A-E411-AB37-8D6955CFA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325" y="3052320"/>
            <a:ext cx="3943350" cy="25717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E041CC3A-1941-D299-3F54-357CD665E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61" y="4478855"/>
            <a:ext cx="101536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4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EA02C5-EFB4-F010-C2C6-B33416A3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Continuity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EA0C156-0D33-DB44-551A-B7B16C60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1" y="1811855"/>
            <a:ext cx="5981700" cy="2571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C309BC74-967D-C705-EBDA-13D8FF303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94" y="2314353"/>
            <a:ext cx="1943100" cy="12192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DDE8C60-4286-92F3-D5F9-864707E4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59" y="4291013"/>
            <a:ext cx="98012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9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4B73F8-0619-3506-90B0-FEA1BC52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Intermediate</a:t>
            </a:r>
            <a:r>
              <a:rPr lang="tr-TR" dirty="0"/>
              <a:t> Value </a:t>
            </a:r>
            <a:r>
              <a:rPr lang="tr-TR" dirty="0" err="1"/>
              <a:t>Theorem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FEE7D9A-9A09-2AEE-59B3-25E7212E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2037670"/>
            <a:ext cx="5629275" cy="25717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2DAD888F-BB2E-8266-FCE8-D1B06DBA6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20" y="2033367"/>
            <a:ext cx="4248150" cy="2571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EC7A3E7B-EF30-8D53-B091-FB82E2A33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15" y="2891613"/>
            <a:ext cx="9944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4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F9F812-77B3-0D47-2597-53232DC6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Definition of </a:t>
            </a:r>
            <a:r>
              <a:rPr lang="tr-TR" dirty="0" err="1"/>
              <a:t>Derivative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8D43C42-DC85-732B-8AB0-7D4B980C2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80" y="1811190"/>
            <a:ext cx="6877050" cy="276225"/>
          </a:xfrm>
          <a:prstGeom prst="rect">
            <a:avLst/>
          </a:prstGeom>
        </p:spPr>
      </p:pic>
      <p:pic>
        <p:nvPicPr>
          <p:cNvPr id="5" name="Resim 4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476778D-C09F-4428-9CE0-91D8072CD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63" y="2252441"/>
            <a:ext cx="3562350" cy="581025"/>
          </a:xfrm>
          <a:prstGeom prst="rect">
            <a:avLst/>
          </a:prstGeom>
        </p:spPr>
      </p:pic>
      <p:pic>
        <p:nvPicPr>
          <p:cNvPr id="6" name="Resim 5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2A5C715-0D2A-6217-7080-246DD2159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4" y="4254906"/>
            <a:ext cx="3219450" cy="58102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47566C08-7EEB-6566-5812-A3324E97E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43" y="5143390"/>
            <a:ext cx="3305175" cy="25717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B9A82BCE-1A24-0B95-53CE-72B5EA542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04" y="3025739"/>
            <a:ext cx="3305175" cy="2571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2D06216B-765A-2A95-713D-EC35989A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063" y="4416832"/>
            <a:ext cx="76200" cy="2571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59CE64FD-3FA3-16DE-7A5C-55A093055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342" y="2414366"/>
            <a:ext cx="76200" cy="25717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3B0176B6-A5D2-1512-04A7-F72BBD326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17" y="3876343"/>
            <a:ext cx="60388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98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328002-7E3F-F8A4-19DC-C3474B53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Differentiation</a:t>
            </a:r>
            <a:r>
              <a:rPr lang="tr-TR" dirty="0"/>
              <a:t> Rules</a:t>
            </a:r>
          </a:p>
        </p:txBody>
      </p:sp>
      <p:pic>
        <p:nvPicPr>
          <p:cNvPr id="4" name="Resim 3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72EAFC5-BBC9-193E-A0F7-BEC41462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53" y="1696336"/>
            <a:ext cx="76676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06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DDE88E-51D5-8ECC-AAC1-61E2AF9D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Differentiation</a:t>
            </a:r>
            <a:r>
              <a:rPr lang="tr-TR" dirty="0"/>
              <a:t> Rules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E10E3CD-03CB-933F-205B-35E14E0D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24" y="2279466"/>
            <a:ext cx="61817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9A9D42-1FB7-A7A7-8704-F37D857D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Derivatives</a:t>
            </a:r>
            <a:r>
              <a:rPr lang="tr-TR" dirty="0"/>
              <a:t> of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Functions</a:t>
            </a:r>
          </a:p>
        </p:txBody>
      </p:sp>
      <p:pic>
        <p:nvPicPr>
          <p:cNvPr id="7" name="Resim 6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E76511C-EC5C-2C48-0E3E-4C0A04659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820" y="2972353"/>
            <a:ext cx="2343150" cy="1533525"/>
          </a:xfrm>
          <a:prstGeom prst="rect">
            <a:avLst/>
          </a:prstGeom>
        </p:spPr>
      </p:pic>
      <p:pic>
        <p:nvPicPr>
          <p:cNvPr id="8" name="Resim 7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F6AF7C-23F3-3243-79EA-F7FFD8AF9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834" y="1643616"/>
            <a:ext cx="3400425" cy="4191000"/>
          </a:xfrm>
          <a:prstGeom prst="rect">
            <a:avLst/>
          </a:prstGeom>
        </p:spPr>
      </p:pic>
      <p:pic>
        <p:nvPicPr>
          <p:cNvPr id="9" name="Resim 8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837F05-DEFD-012E-1248-2E7D5ED75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67" y="1696004"/>
            <a:ext cx="28670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8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7255D5-4086-61A4-D6BC-6A37BF11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Linear</a:t>
            </a:r>
            <a:r>
              <a:rPr lang="tr-TR" dirty="0"/>
              <a:t> </a:t>
            </a:r>
            <a:r>
              <a:rPr lang="tr-TR" dirty="0" err="1"/>
              <a:t>Approximation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Differentials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758C4B7-B0B3-9C8E-5D93-C2AF9327B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1" y="1847297"/>
            <a:ext cx="6915150" cy="2571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613DBEA-BB5A-4152-DE57-76ADF5AD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762" y="2378260"/>
            <a:ext cx="3038475" cy="27622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1EC27B81-C851-2EC7-EC7C-DCE0F0549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15" y="2848529"/>
            <a:ext cx="5372100" cy="2571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C26A64C-ED4B-6061-1E06-EBDB94904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963" y="3300413"/>
            <a:ext cx="1362075" cy="25717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B871073F-3D2F-B844-06EC-71FE84A00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89" y="3894065"/>
            <a:ext cx="10639869" cy="24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4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216C5C-548D-332C-0640-2B17D0AC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Linear</a:t>
            </a:r>
            <a:r>
              <a:rPr lang="tr-TR" dirty="0"/>
              <a:t> </a:t>
            </a:r>
            <a:r>
              <a:rPr lang="tr-TR" dirty="0" err="1"/>
              <a:t>Approximation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Differentials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B076116-2733-77C8-7C00-AA147F94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67" y="2059948"/>
            <a:ext cx="7439025" cy="25717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168121A-79BA-6AA7-A902-5ED314211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97" y="2564329"/>
            <a:ext cx="4772025" cy="27622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045D852E-2699-A626-E60F-F73D37A9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75" y="3851865"/>
            <a:ext cx="63912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16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F8DE0F-1E49-0B64-CB3D-0A51AB1E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Exercises</a:t>
            </a:r>
          </a:p>
        </p:txBody>
      </p:sp>
      <p:pic>
        <p:nvPicPr>
          <p:cNvPr id="3" name="Resim 2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12B6BC1-9A54-CB0D-65E7-C71F28C88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96" y="1935126"/>
            <a:ext cx="43529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Geniş ekran</PresentationFormat>
  <Slides>28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29" baseType="lpstr">
      <vt:lpstr>Office Theme</vt:lpstr>
      <vt:lpstr>MAT123 (Mathematics I)</vt:lpstr>
      <vt:lpstr>Presentation</vt:lpstr>
      <vt:lpstr>About Me</vt:lpstr>
      <vt:lpstr>About Programme</vt:lpstr>
      <vt:lpstr>Why Support the Students?</vt:lpstr>
      <vt:lpstr>Presentation</vt:lpstr>
      <vt:lpstr>Polynomial Functions</vt:lpstr>
      <vt:lpstr>The Rational Root Theorem</vt:lpstr>
      <vt:lpstr>Rational Functions</vt:lpstr>
      <vt:lpstr>Trigonometric Functions</vt:lpstr>
      <vt:lpstr>Inverse Trigonometric Functions</vt:lpstr>
      <vt:lpstr>Exponential Functions</vt:lpstr>
      <vt:lpstr>Logarithmic Functions</vt:lpstr>
      <vt:lpstr>Summary of Functions</vt:lpstr>
      <vt:lpstr>Limit</vt:lpstr>
      <vt:lpstr>Limit Rules</vt:lpstr>
      <vt:lpstr>The Squeeze (Sandwich) Theorem</vt:lpstr>
      <vt:lpstr>Two Important Limits</vt:lpstr>
      <vt:lpstr>The Delta-Epsilon Definition</vt:lpstr>
      <vt:lpstr>Continuity</vt:lpstr>
      <vt:lpstr>Intermediate Value Theorem</vt:lpstr>
      <vt:lpstr>Definition of Derivative</vt:lpstr>
      <vt:lpstr>Differentiation Rules</vt:lpstr>
      <vt:lpstr>Differentiation Rules</vt:lpstr>
      <vt:lpstr>Derivatives of Common Functions</vt:lpstr>
      <vt:lpstr>Linear Approximation and Differentials</vt:lpstr>
      <vt:lpstr>Linear Approximation and Differentials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177</cp:revision>
  <dcterms:created xsi:type="dcterms:W3CDTF">2025-10-21T22:08:38Z</dcterms:created>
  <dcterms:modified xsi:type="dcterms:W3CDTF">2025-10-24T13:09:07Z</dcterms:modified>
</cp:coreProperties>
</file>