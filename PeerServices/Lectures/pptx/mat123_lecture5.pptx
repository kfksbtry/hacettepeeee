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Play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BX0rd/77pM8ocWEbw+XVDF21X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Relationship Id="rId5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Relationship Id="rId4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tr-TR"/>
              <a:t>MAT123 (Mathematics I)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/>
              <a:t>Lecture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Definition of Integral</a:t>
            </a: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50" y="1716405"/>
            <a:ext cx="61341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090" y="2295525"/>
            <a:ext cx="864870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010" y="2926715"/>
            <a:ext cx="483870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9480" y="4705668"/>
            <a:ext cx="74676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90952" y="3926523"/>
            <a:ext cx="200977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Riemann Sum and Riemann Integral</a:t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689" y="1717536"/>
            <a:ext cx="41148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47368" l="0" r="0" t="0"/>
          <a:stretch/>
        </p:blipFill>
        <p:spPr>
          <a:xfrm>
            <a:off x="6867648" y="2256380"/>
            <a:ext cx="3219450" cy="142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317" y="3778885"/>
            <a:ext cx="4764405" cy="1129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Terminology</a:t>
            </a:r>
            <a:endParaRPr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5727" y="2044065"/>
            <a:ext cx="4543425" cy="29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Indefinite Integrals</a:t>
            </a:r>
            <a:endParaRPr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312" y="1680845"/>
            <a:ext cx="85629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502" y="2284413"/>
            <a:ext cx="6416675" cy="521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9112" y="3110865"/>
            <a:ext cx="353377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Common Indefinite Integrals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640" y="1566228"/>
            <a:ext cx="4399280" cy="1022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615" y="2518727"/>
            <a:ext cx="2442210" cy="102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640" y="3549333"/>
            <a:ext cx="35052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980" y="4555173"/>
            <a:ext cx="5125720" cy="795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315" y="1566228"/>
            <a:ext cx="4519930" cy="1683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4512" y="5360352"/>
            <a:ext cx="2578735" cy="81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Common Indefinite Integrals</a:t>
            </a: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13" y="1595438"/>
            <a:ext cx="3955415" cy="468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9855" y="1681163"/>
            <a:ext cx="3905250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2533" y="3941127"/>
            <a:ext cx="421957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Other Indefinite Integrals</a:t>
            </a:r>
            <a:endParaRPr/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043" y="1755737"/>
            <a:ext cx="3697326" cy="1673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0264" y="1814396"/>
            <a:ext cx="3872957" cy="1547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Definite Integrals</a:t>
            </a:r>
            <a:endParaRPr/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200" y="1586725"/>
            <a:ext cx="36576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6113" y="2603926"/>
            <a:ext cx="58197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8163" y="3710452"/>
            <a:ext cx="349567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5875" y="4816978"/>
            <a:ext cx="2000250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Definite Integrals</a:t>
            </a:r>
            <a:endParaRPr/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75" y="1819507"/>
            <a:ext cx="48196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0338" y="3047884"/>
            <a:ext cx="67913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7375" y="4648781"/>
            <a:ext cx="8477250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The Fundamental Theorem of Calculus, Part I</a:t>
            </a:r>
            <a:endParaRPr/>
          </a:p>
        </p:txBody>
      </p:sp>
      <p:pic>
        <p:nvPicPr>
          <p:cNvPr id="166" name="Google Shape;1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897" y="1709854"/>
            <a:ext cx="1045845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The Fundamental Theorem of Calculus, Part II</a:t>
            </a:r>
            <a:endParaRPr/>
          </a:p>
        </p:txBody>
      </p:sp>
      <p:pic>
        <p:nvPicPr>
          <p:cNvPr id="172" name="Google Shape;1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0" y="1977367"/>
            <a:ext cx="1032510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Integration Techniques (</a:t>
            </a:r>
            <a:r>
              <a:rPr i="1" lang="tr-TR"/>
              <a:t>u</a:t>
            </a:r>
            <a:r>
              <a:rPr lang="tr-TR"/>
              <a:t>-substitution)</a:t>
            </a:r>
            <a:endParaRPr/>
          </a:p>
        </p:txBody>
      </p:sp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549" y="1845527"/>
            <a:ext cx="24860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239" y="2807901"/>
            <a:ext cx="243840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882" y="3655162"/>
            <a:ext cx="540067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5064" y="4544006"/>
            <a:ext cx="277177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Integration Techniques (trigonometric-substitutions)</a:t>
            </a:r>
            <a:endParaRPr/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463" y="1850289"/>
            <a:ext cx="8601075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6025" y="4795838"/>
            <a:ext cx="206692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6125" y="4734622"/>
            <a:ext cx="23907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Integration Techniques (Integration by Parts)</a:t>
            </a:r>
            <a:endParaRPr/>
          </a:p>
        </p:txBody>
      </p:sp>
      <p:pic>
        <p:nvPicPr>
          <p:cNvPr id="195" name="Google Shape;1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9896" y="3677115"/>
            <a:ext cx="21145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0050" y="1697309"/>
            <a:ext cx="37719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6077" y="3624728"/>
            <a:ext cx="235267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Integration Techniques (Partial Fraction Decomposition)</a:t>
            </a:r>
            <a:endParaRPr/>
          </a:p>
        </p:txBody>
      </p:sp>
      <p:pic>
        <p:nvPicPr>
          <p:cNvPr id="203" name="Google Shape;2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1850" y="1618670"/>
            <a:ext cx="3199006" cy="160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Type I Improper Integral</a:t>
            </a:r>
            <a:endParaRPr/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4629" y="1693823"/>
            <a:ext cx="6322741" cy="331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Type II Improper Integral</a:t>
            </a:r>
            <a:endParaRPr/>
          </a:p>
        </p:txBody>
      </p:sp>
      <p:pic>
        <p:nvPicPr>
          <p:cNvPr id="215" name="Google Shape;2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3214" y="1691501"/>
            <a:ext cx="5165569" cy="155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6056" y="3433067"/>
            <a:ext cx="5269182" cy="1543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Exercise</a:t>
            </a:r>
            <a:endParaRPr/>
          </a:p>
        </p:txBody>
      </p:sp>
      <p:pic>
        <p:nvPicPr>
          <p:cNvPr id="222" name="Google Shape;2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387" y="1574529"/>
            <a:ext cx="562927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Exercise</a:t>
            </a:r>
            <a:endParaRPr/>
          </a:p>
        </p:txBody>
      </p:sp>
      <p:pic>
        <p:nvPicPr>
          <p:cNvPr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17" y="1545258"/>
            <a:ext cx="2581507" cy="132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Exercise</a:t>
            </a:r>
            <a:endParaRPr/>
          </a:p>
        </p:txBody>
      </p:sp>
      <p:pic>
        <p:nvPicPr>
          <p:cNvPr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852" y="1569534"/>
            <a:ext cx="2933467" cy="133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tr-TR"/>
              <a:t>Exercise</a:t>
            </a:r>
            <a:endParaRPr/>
          </a:p>
        </p:txBody>
      </p:sp>
      <p:pic>
        <p:nvPicPr>
          <p:cNvPr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826" y="1690107"/>
            <a:ext cx="4026054" cy="1721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2025-10-21T22:08:38Z</dcterms:created>
</cp:coreProperties>
</file>